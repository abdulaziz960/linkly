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a94b6b177948eb" /><Relationship Type="http://schemas.openxmlformats.org/officeDocument/2006/relationships/extended-properties" Target="/docProps/app.xml" Id="R0ad7b59599ea43fd" /><Relationship Type="http://schemas.openxmlformats.org/officeDocument/2006/relationships/officeDocument" Target="/ppt/presentation.xml" Id="R68acaaf24e0d4b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98a7ec954f4c52"/>
  </p:sldMasterIdLst>
  <p:notesMasterIdLst>
    <p:notesMasterId xmlns:r="http://schemas.openxmlformats.org/officeDocument/2006/relationships" r:id="R43fd568c3e42400a"/>
  </p:notesMasterIdLst>
  <p:sldIdLst>
    <p:sldId xmlns:r="http://schemas.openxmlformats.org/officeDocument/2006/relationships" id="256" r:id="R45484c62a88c4587"/>
    <p:sldId xmlns:r="http://schemas.openxmlformats.org/officeDocument/2006/relationships" id="257" r:id="Rbe850f7a9ce6403d"/>
    <p:sldId xmlns:r="http://schemas.openxmlformats.org/officeDocument/2006/relationships" id="258" r:id="R14f05f33c3ec4fe9"/>
    <p:sldId xmlns:r="http://schemas.openxmlformats.org/officeDocument/2006/relationships" id="259" r:id="R7c5ef511b0ee4383"/>
    <p:sldId xmlns:r="http://schemas.openxmlformats.org/officeDocument/2006/relationships" id="260" r:id="Rf52c9afc87d34407"/>
    <p:sldId xmlns:r="http://schemas.openxmlformats.org/officeDocument/2006/relationships" id="261" r:id="R0f6b1097c49c4ade"/>
    <p:sldId xmlns:r="http://schemas.openxmlformats.org/officeDocument/2006/relationships" id="262" r:id="Rc96c2682611345fb"/>
    <p:sldId xmlns:r="http://schemas.openxmlformats.org/officeDocument/2006/relationships" id="263" r:id="Rd46936a25fb64768"/>
    <p:sldId xmlns:r="http://schemas.openxmlformats.org/officeDocument/2006/relationships" id="264" r:id="R389de9be063641fb"/>
    <p:sldId xmlns:r="http://schemas.openxmlformats.org/officeDocument/2006/relationships" id="265" r:id="R12fdb9c3d0e34bb6"/>
    <p:sldId xmlns:r="http://schemas.openxmlformats.org/officeDocument/2006/relationships" id="266" r:id="R92bdbfc680aa4742"/>
    <p:sldId xmlns:r="http://schemas.openxmlformats.org/officeDocument/2006/relationships" id="267" r:id="R4ca502f120e74031"/>
    <p:sldId xmlns:r="http://schemas.openxmlformats.org/officeDocument/2006/relationships" id="268" r:id="Rcf11b1854cc648f1"/>
    <p:sldId xmlns:r="http://schemas.openxmlformats.org/officeDocument/2006/relationships" id="269" r:id="R3e2e00ce9f0e466f"/>
    <p:sldId xmlns:r="http://schemas.openxmlformats.org/officeDocument/2006/relationships" id="270" r:id="Rabb2c55c0d5744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4a8b8fe1274787" /><Relationship Type="http://schemas.openxmlformats.org/officeDocument/2006/relationships/slideMaster" Target="/ppt/slideMasters/slideMaster1.xml" Id="Rdd98a7ec954f4c52" /><Relationship Type="http://schemas.openxmlformats.org/officeDocument/2006/relationships/notesMaster" Target="/ppt/notesMasters/notesMaster1.xml" Id="R43fd568c3e42400a" /><Relationship Type="http://schemas.openxmlformats.org/officeDocument/2006/relationships/presProps" Target="/ppt/presProps.xml" Id="Rc2b1d2e5510a40bd" /><Relationship Type="http://schemas.openxmlformats.org/officeDocument/2006/relationships/tableStyles" Target="/ppt/tableStyles.xml" Id="Rbcc92f66fe8d432b" /><Relationship Type="http://schemas.openxmlformats.org/officeDocument/2006/relationships/slide" Target="/ppt/slides/slide1.xml" Id="R45484c62a88c4587" /><Relationship Type="http://schemas.openxmlformats.org/officeDocument/2006/relationships/slide" Target="/ppt/slides/slide2.xml" Id="Rbe850f7a9ce6403d" /><Relationship Type="http://schemas.openxmlformats.org/officeDocument/2006/relationships/slide" Target="/ppt/slides/slide3.xml" Id="R14f05f33c3ec4fe9" /><Relationship Type="http://schemas.openxmlformats.org/officeDocument/2006/relationships/slide" Target="/ppt/slides/slide4.xml" Id="R7c5ef511b0ee4383" /><Relationship Type="http://schemas.openxmlformats.org/officeDocument/2006/relationships/slide" Target="/ppt/slides/slide5.xml" Id="Rf52c9afc87d34407" /><Relationship Type="http://schemas.openxmlformats.org/officeDocument/2006/relationships/slide" Target="/ppt/slides/slide6.xml" Id="R0f6b1097c49c4ade" /><Relationship Type="http://schemas.openxmlformats.org/officeDocument/2006/relationships/slide" Target="/ppt/slides/slide7.xml" Id="Rc96c2682611345fb" /><Relationship Type="http://schemas.openxmlformats.org/officeDocument/2006/relationships/slide" Target="/ppt/slides/slide8.xml" Id="Rd46936a25fb64768" /><Relationship Type="http://schemas.openxmlformats.org/officeDocument/2006/relationships/slide" Target="/ppt/slides/slide9.xml" Id="R389de9be063641fb" /><Relationship Type="http://schemas.openxmlformats.org/officeDocument/2006/relationships/slide" Target="/ppt/slides/slide10.xml" Id="R12fdb9c3d0e34bb6" /><Relationship Type="http://schemas.openxmlformats.org/officeDocument/2006/relationships/slide" Target="/ppt/slides/slide11.xml" Id="R92bdbfc680aa4742" /><Relationship Type="http://schemas.openxmlformats.org/officeDocument/2006/relationships/slide" Target="/ppt/slides/slide12.xml" Id="R4ca502f120e74031" /><Relationship Type="http://schemas.openxmlformats.org/officeDocument/2006/relationships/slide" Target="/ppt/slides/slide13.xml" Id="Rcf11b1854cc648f1" /><Relationship Type="http://schemas.openxmlformats.org/officeDocument/2006/relationships/slide" Target="/ppt/slides/slide14.xml" Id="R3e2e00ce9f0e466f" /><Relationship Type="http://schemas.openxmlformats.org/officeDocument/2006/relationships/slide" Target="/ppt/slides/slide15.xml" Id="Rabb2c55c0d5744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a0b5076d5f48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8649da344d438a" /><Relationship Type="http://schemas.openxmlformats.org/officeDocument/2006/relationships/notesMaster" Target="/ppt/notesMasters/notesMaster1.xml" Id="R85b7c35a4f4640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e3129e950f4f7e" /><Relationship Type="http://schemas.openxmlformats.org/officeDocument/2006/relationships/notesMaster" Target="/ppt/notesMasters/notesMaster1.xml" Id="R8d583aaf48294a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4bf1439d1944cc" /><Relationship Type="http://schemas.openxmlformats.org/officeDocument/2006/relationships/notesMaster" Target="/ppt/notesMasters/notesMaster1.xml" Id="R25b53d114e504f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878ea7f5fc4aab" /><Relationship Type="http://schemas.openxmlformats.org/officeDocument/2006/relationships/notesMaster" Target="/ppt/notesMasters/notesMaster1.xml" Id="R19f6e61c9c3d47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a338a830524947" /><Relationship Type="http://schemas.openxmlformats.org/officeDocument/2006/relationships/notesMaster" Target="/ppt/notesMasters/notesMaster1.xml" Id="Rc2d5c0993cac42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6c3c547f56499b" /><Relationship Type="http://schemas.openxmlformats.org/officeDocument/2006/relationships/notesMaster" Target="/ppt/notesMasters/notesMaster1.xml" Id="R2aee221ba49746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939797b6164f5b" /><Relationship Type="http://schemas.openxmlformats.org/officeDocument/2006/relationships/notesMaster" Target="/ppt/notesMasters/notesMaster1.xml" Id="Rb23e2cd74e8f47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95267744fd4ade" /><Relationship Type="http://schemas.openxmlformats.org/officeDocument/2006/relationships/notesMaster" Target="/ppt/notesMasters/notesMaster1.xml" Id="R75d9b73de4d64f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8cd43c5d03417b" /><Relationship Type="http://schemas.openxmlformats.org/officeDocument/2006/relationships/notesMaster" Target="/ppt/notesMasters/notesMaster1.xml" Id="Rc490590228e240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f715945107436f" /><Relationship Type="http://schemas.openxmlformats.org/officeDocument/2006/relationships/notesMaster" Target="/ppt/notesMasters/notesMaster1.xml" Id="R0728ddfb506a4e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6622430f504242" /><Relationship Type="http://schemas.openxmlformats.org/officeDocument/2006/relationships/notesMaster" Target="/ppt/notesMasters/notesMaster1.xml" Id="Rdac2e286930b41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0811a75c284c38" /><Relationship Type="http://schemas.openxmlformats.org/officeDocument/2006/relationships/notesMaster" Target="/ppt/notesMasters/notesMaster1.xml" Id="Rb1d6512f039846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fe61fde6ac4f9d" /><Relationship Type="http://schemas.openxmlformats.org/officeDocument/2006/relationships/notesMaster" Target="/ppt/notesMasters/notesMaster1.xml" Id="Rfdc24ce17f0e41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8c1d580e484d7d" /><Relationship Type="http://schemas.openxmlformats.org/officeDocument/2006/relationships/notesMaster" Target="/ppt/notesMasters/notesMaster1.xml" Id="Ra49ff8894d7442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a8373f8d99478e" /><Relationship Type="http://schemas.openxmlformats.org/officeDocument/2006/relationships/notesMaster" Target="/ppt/notesMasters/notesMaster1.xml" Id="R560841a311b34e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74de01b7e47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0a15bbf64440ca" /><Relationship Type="http://schemas.openxmlformats.org/officeDocument/2006/relationships/slideLayout" Target="/ppt/slideLayouts/slideLayout1.xml" Id="Rb7730442e44c4b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730442e44c4b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b7eabf998427b" /><Relationship Type="http://schemas.openxmlformats.org/officeDocument/2006/relationships/notesSlide" Target="/ppt/notesSlides/notesSlide1.xml" Id="R2db5d91e928c44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43417fd544285" /><Relationship Type="http://schemas.openxmlformats.org/officeDocument/2006/relationships/notesSlide" Target="/ppt/notesSlides/notesSlide2.xml" Id="R55b00e7d2c354a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e0470ff3644ec" /><Relationship Type="http://schemas.openxmlformats.org/officeDocument/2006/relationships/notesSlide" Target="/ppt/notesSlides/notesSlide3.xml" Id="R954d24e26b8d49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de5283dc44f66" /><Relationship Type="http://schemas.openxmlformats.org/officeDocument/2006/relationships/notesSlide" Target="/ppt/notesSlides/notesSlide4.xml" Id="Rb4d004ae11ff4a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af18dd7184cff" /><Relationship Type="http://schemas.openxmlformats.org/officeDocument/2006/relationships/notesSlide" Target="/ppt/notesSlides/notesSlide5.xml" Id="R6f1784accbad4e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86c7e20f942e2" /><Relationship Type="http://schemas.openxmlformats.org/officeDocument/2006/relationships/notesSlide" Target="/ppt/notesSlides/notesSlide6.xml" Id="Re969642d9ec545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160965388479d" /><Relationship Type="http://schemas.openxmlformats.org/officeDocument/2006/relationships/notesSlide" Target="/ppt/notesSlides/notesSlide7.xml" Id="R95963c7b420e45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d320f7d234aa4" /><Relationship Type="http://schemas.openxmlformats.org/officeDocument/2006/relationships/notesSlide" Target="/ppt/notesSlides/notesSlide8.xml" Id="R19368a66eab448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a01025b1b49f1" /><Relationship Type="http://schemas.openxmlformats.org/officeDocument/2006/relationships/notesSlide" Target="/ppt/notesSlides/notesSlide9.xml" Id="Rb20dcc224b104e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a6e00bc184545" /><Relationship Type="http://schemas.openxmlformats.org/officeDocument/2006/relationships/notesSlide" Target="/ppt/notesSlides/notesSlide10.xml" Id="R116bd3521c8d46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368e285724edf" /><Relationship Type="http://schemas.openxmlformats.org/officeDocument/2006/relationships/notesSlide" Target="/ppt/notesSlides/notesSlide11.xml" Id="R4b5f64dce19b4a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c76e5d9c242dc" /><Relationship Type="http://schemas.openxmlformats.org/officeDocument/2006/relationships/notesSlide" Target="/ppt/notesSlides/notesSlide12.xml" Id="Rd6dc8901751147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5e4b45dee4d21" /><Relationship Type="http://schemas.openxmlformats.org/officeDocument/2006/relationships/notesSlide" Target="/ppt/notesSlides/notesSlide13.xml" Id="Rf973ea4a67034c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c95631cb24b05" /><Relationship Type="http://schemas.openxmlformats.org/officeDocument/2006/relationships/notesSlide" Target="/ppt/notesSlides/notesSlide14.xml" Id="R00ded000b13a48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3cf9d19ec419e" /><Relationship Type="http://schemas.openxmlformats.org/officeDocument/2006/relationships/notesSlide" Target="/ppt/notesSlides/notesSlide15.xml" Id="Ra1f479bdd65a41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6B0F1C-86EE-4A32-AEFE-17F129EC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"/>
            <a:ext cx="28575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pPr algn="ctr" rtl="1">
              <a:defRPr sz="1350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1350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خدمة قابلة للبيع للشركات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EDCD6-2D62-46E4-AAE1-4BFAADA2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40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0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مندوب مبيعات ذكي على واتساب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16190-EE4D-4870-BA3D-D89F04E4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828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20000"/>
              </a:lnSpc>
              <a:buNone/>
              <a:defRPr sz="20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20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بوت ذكي مخصص لكل نشاط تجاري يرد، يقنع، يجمع بيانات العملاء، ويحول الفرص الجادة لفريق المبيعات.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EF80F-8044-4F9E-B56F-C1D34435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48125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40234-B44E-424A-A1F5-FA264C48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00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800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1800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عرض مشروع وتشغيل وتكاليف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61E8B-93DC-4F2C-9A34-7A25C5E5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E3A12-8E82-4935-B930-AD6BFBE1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523697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6EF57D-C419-4915-B8F8-BAFD5F4F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الفكرة في جملة واحدة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983B7E6-4EFA-45AD-B58E-25B8DE0C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نحوّل واتساب الشركة إلى قناة مبيعات ذكية تعمل طوال اليوم.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7FE81-85C2-48E0-900A-0C0087F6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EA0D5-2585-4BEB-8869-EA71CF88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25000"/>
              </a:lnSpc>
              <a:buNone/>
              <a:defRPr sz="2250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250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الخدمة عبارة عن مندوب مبيعات ذكي داخل واتساب، يتم تدريبه على بيانات كل شركة: المنتجات، الأسعار، الأسئلة المتكررة، طريقة الحجز، العروض، ونبرة التواصل.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2E1C1-C07A-4990-8FAC-41A3C977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F3322-A505-46DC-B573-7DE9C111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7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27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24/7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9720E-612F-4BBB-898F-17E43F03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32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رد فوري على استفسارات العملاء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E1158-389C-427B-B518-48B0021E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A80AB-CCD9-4B0A-B4AF-B20804D2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910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77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277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مخصص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4C868-05C8-4B7B-A0B4-44BD427F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232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لكل نشاط وقطاع وعميل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756C7-0424-45B3-A163-819C33D1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52A28-68C8-43E4-8294-4B072B46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775" b="1" lang="ar-SA" altLang="ar-SA" rtl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775" b="1" lang="ar-SA" altLang="ar-SA" rtl="1">
                <a:solidFill>
                  <a:srgbClr val="F97316"/>
                </a:solidFill>
                <a:latin typeface="Arial"/>
                <a:ea typeface="Arial"/>
                <a:cs typeface="Arial"/>
              </a:rPr>
              <a:t>قابل للبيع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DCBAD-86CF-4C4F-BA41-D1481BE0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62500"/>
            <a:ext cx="232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اشتراك شهري مع رسوم تأسيس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29D14-07C7-4E60-A695-8ED1CB2A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D2A09-B1F2-40F9-902D-D588040D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12996940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E0BABA-A8BB-42BC-882C-75969DC5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المشكلة التي نحلها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CD997D-B2BF-4F7D-B22F-82042F92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أغلب الشركات تستقبل العملاء عبر واتساب، لكن إدارة المحادثات غالبًا يدوية ومتقطعة.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36181-D053-458B-BA01-9EDC86A4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8F8C2-F893-4287-8DA4-67A44A8C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429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BAFB8-25BD-4E91-B370-625DD5C3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0478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CA949-A6DD-4948-AA8D-E676E54B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76475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تأخر الرد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D3D00-8D9C-4FDC-A065-C2730F3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2895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8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العميل يقارن بين أكثر من مزود، وأي تأخير بسيط قد يعني ضياع فرصة بيع.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ED858-84E4-4365-896A-B841125F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8DC51-9741-4D0B-89F1-C8A2F898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478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387AA-B061-4F43-B2B6-26E321C0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76475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ضغط متكرر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A2B14-3346-4710-BABA-DEF3B065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14625"/>
            <a:ext cx="2609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8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نفس الأسئلة تتكرر يوميًا: السعر، الموقع، المواعيد، الشحن، الحجز، وسياسة الخدمة.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556AA-1EFB-4831-A05F-6FFFF329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3CFBE-A549-40A9-BF22-A49DA91D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4787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F46"/>
          </a:solidFill>
          <a:ln xmlns:a="http://schemas.openxmlformats.org/drawingml/2006/main" w="0">
            <a:solidFill>
              <a:srgbClr val="065F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57B04-AC11-4D4E-9777-3A0C29D9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76475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متابعة ضعيفة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89212-44C7-4221-AD68-F1E3D9AB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14625"/>
            <a:ext cx="2609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8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كثير من العملاء المهتمين لا تتم متابعتهم بعد أول استفسار، فتفقد الشركة فرصًا جاهزة.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92FB8-E368-4FC4-A907-785712BA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33875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9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9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النتيجة: مبيعات مفقودة، تجربة عميل غير ثابتة، وفريق مبيعات مستنزف.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F8E50-3EA7-4B4F-8FEF-82FF1056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333875"/>
            <a:ext cx="22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9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9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BF2DE-2293-4859-A9BC-CF98C199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29175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9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9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الحل: مندوب ذكي يرد فورًا ويفرز العملاء ويرفع جودة المحادثات.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4B94F3-D09A-4D1B-A9CC-E81CA4E0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829175"/>
            <a:ext cx="228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9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9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7608B-F1D7-4D97-B7EF-32EFBA9C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1E3CE-9581-43D0-82AE-FB1FD0A8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608914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C4E832-2F72-4765-AA13-9BF42F29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الحل المقترح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D85656E-6788-4715-9873-A21FBC78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خدمة اشتراك شهري تقدم مندوبًا ذكيًا جاهزًا للعمل داخل واتساب الشركة.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0002B-BA72-40DD-B9E2-5C7DB6A5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1FA29-6E90-4F10-B0F7-F5B48045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47875"/>
            <a:ext cx="883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8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يفهم نشاط العميل التجاري وبياناته الخاصة.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0A454-485D-4D57-918B-20084593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047875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8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4BCBF-5163-4C21-A220-3AD7351E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883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8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يرد بلغة احترافية وبنبرة مناسبة للعلامة التجارية.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ABF21-DB2F-438D-9E1B-4DBA67C8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00325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8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9BCA4-8C59-4E60-AB77-018F88F7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52775"/>
            <a:ext cx="883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8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يجمع بيانات العميل: الاسم، المدينة، الميزانية، الخدمة المطلوبة، ووقت التواصل.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8D426B-C2F4-4A82-9D81-CF0401E8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52775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8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F2C42-B257-4BAB-8353-AAE4385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05225"/>
            <a:ext cx="883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8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يرشح المنتج أو الخدمة المناسبة بدل الرد العام.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C2F8A-5FDF-4DB0-B82B-FFD6846E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05225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8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A35B6-8B6F-40A4-91CA-FFD51114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57675"/>
            <a:ext cx="8839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8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يحوّل المحادثة لموظف بشري عند وجود فرصة جادة أو طلب حساس.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CB8DE-7244-4EFE-8C10-06029DB1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57675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8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2A89D-0B93-4CC9-8E24-705FDEE6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C5743B-6477-45D8-B0BE-26A1F5BA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8952787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7A80B2-8BB4-4912-9F97-CBBBE1BD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طريقة العمل داخل واتساب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B8D60B-8A08-4B14-B4D7-3908035E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مسار بسيط من رسالة العميل إلى فرصة بيع منظمة.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56E9C-DB74-4F61-ABE9-0FEB5157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695E6-FD9E-4BA4-9796-710A7F89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809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F3015-9192-4737-923D-FCD8E596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717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270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270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F7A89-6A41-4A63-929B-B4DAFA9C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575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استقبال الرسالة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1DD6D-1BD5-4A23-8B63-5D8019A7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7528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3000"/>
              </a:lnSpc>
              <a:buNone/>
              <a:defRPr sz="12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العميل يرسل استفساره على رقم واتساب الشركة.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A5BBB-C31A-4B40-8B69-F6D8D30F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1809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82997-9EFE-4487-A52D-CBB0E807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717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270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270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874C8-AA65-4C8B-969E-7F8277CA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575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فهم الطلب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0D47E-7107-4F9C-810A-81200DE4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528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3000"/>
              </a:lnSpc>
              <a:buNone/>
              <a:defRPr sz="12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النظام يقرأ السؤال ويبحث في بيانات الشركة.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FDB6C-5EE3-4E9A-AD8F-5E89BBC4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33625"/>
            <a:ext cx="1809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8F7D9-5AC6-43CF-B9A1-9914E30A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5717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270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270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FB3C4-FC6E-4334-9650-411416EA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2575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رد ذكي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3D91C9-C726-4084-921C-CBA388A4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7528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3000"/>
              </a:lnSpc>
              <a:buNone/>
              <a:defRPr sz="12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المندوب يجيب ويقترح الخطوة المناسبة.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165C6-7EED-491F-B75D-166BBD2C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1809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C35854-69F0-41E8-8D3B-8E414E6D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17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270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270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5F48B-92E3-4F57-A975-DBFD7ADB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575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تسجيل الفرصة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FF4DD-32A3-47D7-9DE8-F447C7BA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528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3000"/>
              </a:lnSpc>
              <a:buNone/>
              <a:defRPr sz="12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بيانات العميل تحفظ في CRM أو Google Sheets.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ED732-2526-4B1F-BF70-F8396063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1809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1E9D5-45DB-4A66-AD64-D789BC42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57175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2700" b="1" lang="ar-SA" altLang="ar-SA" rtl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700" b="1" lang="ar-SA" altLang="ar-SA" rtl="1">
                <a:solidFill>
                  <a:srgbClr val="F9731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77AFFE-1942-4B7A-9E39-933659DC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575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تحويل بشري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6852B-E8FB-4652-8B39-772EBFC6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752850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3000"/>
              </a:lnSpc>
              <a:buNone/>
              <a:defRPr sz="12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المحادثة تنتقل للفريق عند الحاجة.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43AA19-5A27-4D2C-A3C1-9AD1E6F4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2B4118-CADF-42D8-A09D-1B038C87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34138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7B3EDB-5D08-40E8-9133-6DF409B9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كيف يتم تدريب المندوب؟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262B5D3-219E-4366-AA81-21E9C2BD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التدريب هنا يعني بناء قاعدة معرفة وقواعد رد، وليس تدريب نموذج من الصفر.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68AC7-EB0F-47C1-953A-E1843019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D752A-3334-48AF-9DB3-C65C7BDA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4D36A-3120-46FD-A1DC-608EFBBE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12CD6-AB68-4D41-AAAA-ACD09137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جمع البيانات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8D494-7129-4BB7-8552-BDC02949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8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ملف الشركة، الخدمات، المنتجات، الأسعار، العروض، الأسئلة الشائعة، الروابط، الصور، وسياسات البيع.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54BC6-FCF8-40B3-A6C2-25F3F687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9F8F9-1F13-45F8-8541-8D1F9363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5F46"/>
          </a:solidFill>
          <a:ln xmlns:a="http://schemas.openxmlformats.org/drawingml/2006/main" w="0">
            <a:solidFill>
              <a:srgbClr val="065F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4BE28-E8C4-41D7-8690-4F5B758E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تنظيم المعرفة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62183-D6CE-4033-B92F-79B6F7AB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0"/>
            <a:ext cx="2419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8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تحويل البيانات إلى قاعدة معرفة قابلة للبحث، مع تقسيمها حسب المنتجات أو الأقسام أو الفروع.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F0B65-A5C0-48E1-A6DE-95641F82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952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6E04B-FD9F-4861-A6C4-973A503D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A7235-426A-4596-AA87-8630B888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قواعد المحادثة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FD83E-5086-40FC-9431-0F6402D6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62250"/>
            <a:ext cx="2419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8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تحديد متى يسأل، متى يعرض السعر، متى يجمع البيانات، ومتى يحول لموظف.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01583-22E9-46B5-9851-FB72605C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902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7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7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قبل التشغيل يتم اختبار سيناريوهات حقيقية لضمان عدم اختراع أسعار أو وعود غير مؤكدة.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499DD-7879-4E2B-90B9-764098F0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33387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72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666A0-E2FD-4C61-9B35-F6FD0514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02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7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7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يتم تحديث البيانات عند تغير الأسعار أو العروض أو سياسة الخدمة.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61D71-B67A-40DF-A738-D3D74CDD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810125"/>
            <a:ext cx="22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72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385413-4296-46DF-AE57-4EDF1B16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6BE64-2EE5-458A-BD57-5EA349A2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1105881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9AB3A0-5959-4D49-8EA6-6DE67147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الأدوات التقنية المطلوبة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CE81A4B-8075-49C5-AF7F-385B5501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هذه هي الاشتراكات والمنصات الأساسية لتشغيل الخدمة كمنتج.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422F4-85D9-4811-99B3-2DB0B4F3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94254-FA00-4C36-B859-471C959C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B532F-2218-4618-B6CC-47B665ED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621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واتساب رسمي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EFD9D-ADAF-4C43-8446-6036215F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6697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Meta WhatsApp Cloud API أو مزود رسمي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5140D-D4FF-4253-9ABC-1B77CA25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32800-ABB0-42F0-A440-995FAF47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621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الذكاء الاصطناعي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33154-B869-4609-B1C2-02A02364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6697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OpenAI API للردود والفهم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48DE3-5FCE-48DD-B242-C90D9543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3CBD9-87C8-4324-AD2E-46EE5AC6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813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قاعدة البيانات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CD6C0-9F67-4380-A361-6D682ACC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8617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Supabase لتخزين العملاء والمحادثات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49984-9697-417E-8C70-535E4BF2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182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CAE26-1091-4B5A-8430-69038FA4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قاعدة المعرفة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AD0FB-ADE3-425B-8BF8-46C11DB6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8617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pgvector أو Qdrant أو Pinecone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4CD97-3919-4FC1-B429-A65FAB86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9102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B5FCE-B83B-4181-99DB-D01ED9D3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005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الاستضافة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F24C1-E75D-413C-8C7A-360B2034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0537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Render أو Railway أو Vercel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A0148-9475-415C-A514-AAE343A4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9102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1EDD9-EEF3-477C-AF43-C793E5CE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005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التشغيل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89C2EF-194C-47F9-8E28-608318EC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0537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Logs، مراقبة أخطاء، ولوحة إدارة بسيطة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0FFA9-69D7-4F83-AC0B-0E0AEC01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7BA515-A172-4069-AE20-F7A14BE1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60691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26BBF8-61E6-4B2A-A55D-D7F22A7A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التكلفة الشهرية قبل أول عميل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D156B2A-3813-4218-8A68-6F4B9DD4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هذه تكلفة التجربة والتطوير الأولي بدون منصة SaaS كبيرة.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0C218-51EA-4E47-84CB-0102CF5D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EBD7C-5489-450B-BF53-1C954693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37035-5084-45F5-96F6-AACA448A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38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4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OpenAI API للتجارب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BE08E-A231-4E32-BA77-BBA58A67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50 - 200 ريال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C5DC9-5F31-48AB-A600-17B33C4E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6025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A24B8-EAE5-4C18-B36F-3AFF7D08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425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واتساب Cloud API للتجارب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AD7B1-A66B-4C3F-821C-125DAFA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0 - 100 ريال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D4DE3-E09F-4433-B512-71696FE5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47764-649F-44DD-AAD6-68569A84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425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استضافة النظام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4559E-67E8-48B0-A312-4C76F232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0 - 100 ريال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FF387-24A8-4096-B086-19736861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2825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6391D-49B3-416D-BEBB-77D45D61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385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425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Supabase / قاعدة بيانات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98A7F-AF88-408D-B70B-00FE960C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0 - 94 ريال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76F1E8-5F13-48F7-B408-1C95CDF9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86225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6F61F-5376-40A1-9189-41A2AC4E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425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دومين وبريد رسمي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84387-AE79-4375-AC4A-0BF03A1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71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30 - 70 ريال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EB25E-EC79-4A36-BCAF-EB8DD5E6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EAC2C-7FCD-484A-80C3-4D5720E0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053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425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مراقبة وأدوات مساعدة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D1CB0-BCF1-478C-B810-9FEF2CB9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14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0 - 50 ريال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E530C-BFBC-4B82-BFE0-DD3ECAE3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533400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ECFDF5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pPr algn="ctr" rtl="1">
              <a:defRPr sz="1350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1350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الإجمالي المتوقع: 100 - 500 ريال شهريًا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72AC19-93FE-4AAE-B034-C06B1B2F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865A8E-D5E8-47FA-B2BD-DF3F81F5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3004074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EFD700-1050-44F2-883D-C782DC12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تكلفة العميل الواحد عليك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379646D-7870-423A-97CA-6B37904A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احسبها على أساس عميل متوسط لديه 1,000 محادثة شهريًا.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DB8BC-1CDB-4D9E-9A03-BE6F320A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28464-3D5A-4F06-9654-808219B6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B3D4F-4F75-4E04-9BDD-CA5BBB20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860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7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27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50 - 250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1CEEE-5EF1-44A0-A583-18C14EE3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ريال للذكاء الاصطناعي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9AA57-8AFF-4ACB-AE90-0C295B99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A3629-DD3A-40DD-8703-6003C726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860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77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277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0 - 300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B645C-0516-4FF6-A24B-08E9F3C3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57500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ريال لرسائل واتساب المدفوعة تقريبًا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63FB1-DC94-4733-929B-6F67CFF5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DEAF1-EA84-4B89-986A-851D3054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775" b="1" lang="ar-SA" altLang="ar-SA" rtl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2775" b="1" lang="ar-SA" altLang="ar-SA" rtl="1">
                <a:solidFill>
                  <a:srgbClr val="F97316"/>
                </a:solidFill>
                <a:latin typeface="Arial"/>
                <a:ea typeface="Arial"/>
                <a:cs typeface="Arial"/>
              </a:rPr>
              <a:t>30 - 200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18356-9D19-4BE8-9EBB-AFEF4CAC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57500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ريال استضافة وتخزين ونصيب النظام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3D864-CA41-4691-AED4-FCBFCA64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20000"/>
              </a:lnSpc>
              <a:buNone/>
              <a:defRPr sz="21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التكلفة الواقعية للعميل الواحد غالبًا بين 150 و900 ريال شهريًا، حسب عدد الرسائل، طول المحادثات، ورسائل المتابعة التسويقية.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310BC-EE67-43A0-ABE6-54190B55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650" b="0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1650" b="0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نصيحة تسعير: اجعل رسوم واتساب المدفوعة ضمن حد واضح أو أضفها على فاتورة العميل.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51748-E4EA-4971-BF96-E2F8D3D0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1BC646-1521-4375-B06E-BEB6C5DF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19162351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0C9B09-51C7-4245-9D84-DD31CEB1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توقع التكاليف حسب عدد العملاء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8FE7440-7255-474F-9C1E-82749EF6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الأرقام تقريبية وتشمل AI، واتساب، استضافة، قاعدة بيانات، وتشغيل أساسي.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A0A07-8DDA-408B-841D-FFD04FBA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35396-3D90-4F54-8902-EA34D28B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009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D644C-82FC-4EB9-BC5D-9FDA6B65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قبل العملاء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F3F03-1759-43CB-A899-A0371868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5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100 - 500 ريال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62C6C-FBA4-493E-9417-5BD05C3C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90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تجارب وبناء نسخة أولية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30DE6-35D4-42F8-8CF1-36252B37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1009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67428-04CA-4FFD-AC37-DC01DFB6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71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 عميل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0A4E2-0D33-4EDB-A9E0-A37ACA6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71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5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450 - 1,650 ريال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48A1F-60C2-4A83-B089-2A4FC473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71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تشغيل فعلي مع استخدام محدود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A75F7-B0B4-4EE0-B784-76032A9D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9975"/>
            <a:ext cx="1009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A8EBCE-44D4-45BE-98FB-1D5B0B57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528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5 عملاء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2F8F6-AC6F-4B04-99A6-DF74AC7F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52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5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800 - 3,900 ريال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2DB89-424A-465B-B660-200EFFAA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52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مرحلة بداية مربحة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7495D-D55A-473A-ABB9-7719786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91025"/>
            <a:ext cx="1009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8CE40-677A-4F34-96DD-E4C486B5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33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20 عميل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D5583-9C85-4A9C-A2A2-6BD6B41F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33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5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3,000 - 17,500 ريال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F48F4-00E6-43BD-B7DE-5CA92175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مرحلة تحتاج مراقبة ودعم أقوى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686E44-4987-494C-A29C-3852CD31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C8143-D674-416E-8182-58D4DF40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2539773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A48A84-25DD-4255-80FA-DF739CD9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الباقات المقترحة للبيع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7F184F-C958-4837-AF6C-9E463740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التسعير يجب أن يغطي الاستخدام والدعم ويترك هامشًا واضحًا.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7D754-12C1-4BA5-A9F3-2C45C660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08DEEB-1C58-429B-9E7A-665D3C56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47875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F80D1-E4C2-4677-89D7-BDD55709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336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20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50F02-E9C9-4EFD-BFD8-2B18C49F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051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1,500 - 2,500 ريال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2BFE6-101A-4D2F-8D1A-0D842E7F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20000"/>
              </a:lnSpc>
              <a:buNone/>
              <a:def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رقم واحد، أسئلة شائعة، قاعدة معرفة بسيطة، تقرير شهري.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61617-6584-46AA-AE7A-3C8A693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D59B0-810D-4F77-8C5A-CE42117C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336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20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2025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2FCAF-ACF7-4BC3-A391-0C214AA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051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3,000 - 5,000 ريال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E5549-3819-4B84-8666-7C231BF0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71875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20000"/>
              </a:lnSpc>
              <a:buNone/>
              <a:def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متابعة عملاء، تسجيل فرص، تحسين شهري، ربط Google Sheets.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008AE-2D2F-4733-9884-A7BEDD5A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47875"/>
            <a:ext cx="3048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3F812-1280-4398-AA67-653A37DF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336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20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0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64BA1-8917-4560-AF90-6A277B50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05125"/>
            <a:ext cx="262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6,000 - 10,000 ريال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F7BF9-1EAA-4C2A-A5F8-DA56A012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20000"/>
              </a:lnSpc>
              <a:buNone/>
              <a:def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425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سيناريوهات متقدمة، تحويل بشري، تقارير، أكثر من قسم أو فرع.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40644-317C-4C22-A58A-0625E4E7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800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1800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رسوم تأسيس مقترحة: 3,000 - 8,000 ريال حسب حجم بيانات العميل والتكاملات المطلوبة.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B07AA-C562-44D2-8A23-E6DAAA85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A46F6-61F9-44F5-A6DA-AEA71BB4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1194037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2E00E1-7A64-467B-9552-FFC6EEA5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القطاعات المناسبة كبداية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BA2DCA4-AAE5-4BE5-8B5E-9ACA2D2A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ابدأ بالقطاعات التي لديها قيمة عميل عالية وحجم استفسارات واضح.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F5B19-5D55-464A-AC0B-0B42B706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D2439-FADD-4FB3-9B25-A32B9BFF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FC8A2-857C-4B96-B71D-B3C81B89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4787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28A92-42C3-427F-A614-09F9BFFD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764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العقارات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E8D7B-471E-43BB-970D-2E8B8448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14625"/>
            <a:ext cx="2324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8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مشاريع، أسعار، مواقع، حجز، تمويل، ومواعيد معاينة.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2A467-614B-42F5-893E-14E74DC0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D630B-D3F0-4C83-8A72-CABE0907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4787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7E9CC-5986-4042-89E6-EA7372EB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764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العيادات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38BA9-7F3B-4D11-9126-5190AF3C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14625"/>
            <a:ext cx="2324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8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خدمات، مواعيد، أسعار تقريبية، وأسئلة متكررة دون تشخيص.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3F393-A94E-4A1D-A833-440A7280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47875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2F98D-5F2B-4623-8EF0-8E961179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04787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4C01B-FC99-482D-8E31-11444284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76475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المتاجر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EEE71-A759-41AA-A865-999B1747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2324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8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منتجات، شحن، عروض، استرجاع، وروابط شراء.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340589-7257-4E11-8EA3-BDF005DC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0525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B4E27-0784-4729-ADB3-A3CCB90A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9052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880C8-0029-4203-9378-7FD459C8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1338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المطاعم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27709-2A57-4502-9243-511BA159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72000"/>
            <a:ext cx="2324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8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منيو، عروض، فروع، حجوزات، وطلبات أولية.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DB550-7B6C-4E1E-9B62-3EC864A6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05250"/>
            <a:ext cx="2857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7C48D8-A4B4-429F-9B66-F1BE0EB2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9052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A8244-6A33-49B2-A20F-0B3A663D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338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مراكز الخدمات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50344-81A1-4D88-BE9B-460B0AFD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72000"/>
            <a:ext cx="23241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8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صيانة، تنظيف، تدريب، سيارات، وتأمين.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2CF819-4930-4C11-B133-BC565CB0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45362F-8988-4241-9DBD-DE51C814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13971413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455E9-1BF8-4756-AF1D-251A3919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خطة الإطلاق العملية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00566EC-BB75-43CF-8A32-35F83348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هدف المرحلة الأولى: الحصول على 3 عملاء مدفوعين قبل بناء منصة كبيرة.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2A835-29D4-456C-A76E-89D3C98B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19B17-FAEB-4351-A7AA-11DEBBB7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00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الأسبوع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9B900-ED1D-428C-9D6B-C6B15E44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19300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10C99-A936-41E8-8405-41122B4D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تجهيز الديمو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B3547-4093-4DEA-A0C5-2EC0BDE1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7170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اختيار قطاع واحد وبناء نموذج محادثة واقعي.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EB5A2-DAC5-4BC4-AA9D-7094DD91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051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الأسبوع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AE6F0-1716-4F07-A0D3-56C3A109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24175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8D112-B2BC-4713-99DE-E462569A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76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تشغيل نسخة أولية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61930-A48D-416C-AA80-ABC08DD7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7657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ربط واتساب، AI، قاعدة المعرفة، وتسجيل العملاء.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5AFE4-5386-4144-B5D6-D0732CE6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810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الأسبوع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168C8-F366-4B1A-827F-B2637DB4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29050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C2160-8CD9-41AD-8A3A-99A648C8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بيع مباشر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D3FF5-9110-4BC9-9818-DF3E826E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814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التواصل مع 100 شركة وعرض تجربة مخصصة.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25F3C-1017-4C72-9026-BD43EFEC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14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الأسبوع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750DE1-83EA-4D4E-8A46-578104B4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33925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AA761-BAC6-4797-8C84-B4A59C94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863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أول عميل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8B677-38AF-4D67-B852-C861B1BF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8632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تشغيل العميل، تحسين الردود، وأخذ شهادة استخدام.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9BE13-C41B-4A88-98A7-954A46C0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1FBC3-46F4-469C-B80D-269D290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20036817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B7E128-5042-440F-970F-1BAEF6D8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قرار البداية الموصى به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A1152A2-24D1-4D27-9DAE-4BDB0B38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ابدأ كخدمة مخصصة، ثم حوّل التكرار إلى منصة.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CDC1C-C59F-47A9-A6B4-03F40351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E0DAF-442C-478C-837A-6B50A5A7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1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التركيبة المقترحة للبداية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AFBC4-7414-4292-A263-F4B8E06E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67000"/>
            <a:ext cx="4029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WhatsApp Cloud API مباشرة.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31F34-C689-4403-80AC-047E1A62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66700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41B19-A513-4862-9EB8-5D276C79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4029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OpenAI API للردود والفهم.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F71C5-7AA3-4B3B-8590-7E94E38C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12420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BD145-80EF-4EE2-9704-FF03E289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4029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Supabase للتخزين وقاعدة المعرفة.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88A85-EDBC-4C4B-A367-783443E1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8140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F969E-54AF-4F7B-9F41-6A1062BE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4029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Render أو Railway للاستضافة.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BDD39-1502-4F6F-A724-AC74DC01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03860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B53E1-0462-43F1-AE0F-24EFD61B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4029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Google Sheets كواجهة تشغيل مؤقتة.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ABB2E-2B1E-46BC-9D9F-6EA888E5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95800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6FFBF-15FC-4CA2-B1C0-B9F0898C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762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64FEC-6EBF-4C61-98BB-0EABA597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2400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defRPr>
            </a:pPr>
            <a:r>
              <a:rPr sz="2400" b="1" lang="ar-SA" altLang="ar-SA" rtl="1">
                <a:solidFill>
                  <a:srgbClr val="065F46"/>
                </a:solidFill>
                <a:latin typeface="Arial"/>
                <a:ea typeface="Arial"/>
                <a:cs typeface="Arial"/>
              </a:rPr>
              <a:t>لا تبنِ SaaS كامل من اليوم الأول.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F6BA3-CE24-406B-BE88-3DF064F3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81375"/>
            <a:ext cx="3905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22000"/>
              </a:lnSpc>
              <a:buNone/>
              <a:defRPr sz="18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بع الخدمة يدويًا لأول 3 إلى 5 عملاء، ثم ابنِ لوحة تحكم وتكاملات بناءً على الاحتياج المتكرر.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3E132-7D84-4D81-95F5-0CE1898D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78481-EF77-498D-AC45-60E6EBB7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13288058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F72043-C7BB-4CEC-A93D-7E056D68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lang="ar-SA" altLang="ar-SA" rtl="1">
                <a:solidFill>
                  <a:srgbClr val="111827"/>
                </a:solidFill>
                <a:latin typeface="Arial"/>
                <a:ea typeface="Arial"/>
                <a:cs typeface="Arial"/>
              </a:rPr>
              <a:t>مصادر التسعير والملاحظات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7A8193-3E33-42F1-A723-EE377D9C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500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يجب مراجعة الأسعار الرسمية قبل توقيع العقود لأنها تتغير حسب الدولة والاستخدام.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4F8A9-A2D5-4A73-BA24-459BDF17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7312C-601F-42FE-9A29-85770507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60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Meta WhatsApp Business Platform Pricing: تسعير الرسائل حسب الدولة ونوع الرسالة.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BB7D9-3CE3-4A53-A09A-882F3A13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09550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174CC-6B94-4EA7-AC19-786DEC9E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960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OpenAI API Pricing: التكلفة حسب استخدام التوكنز والنموذج المستخدم.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72E38-B752-4420-A4A4-74D1C4F6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64795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F2E58D-ED87-40CA-90D0-2D851277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960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Supabase Pricing: الخطة المجانية تكفي للتجربة، والخطة المدفوعة مناسبة للتشغيل الأولي.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07449-014B-46D3-BDD2-7F0A14FC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0040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2284C-2985-4958-821B-46F84D1B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960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Vercel / Render / Railway: الاستضافة تبدأ مجانًا أو بتكلفة منخفضة ثم تزيد مع الاستخدام.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84C65-6040-46A5-B4EA-740CD398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75285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3B8C9-DB7B-4ECF-8A55-37AC68DC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960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0000"/>
              </a:lnSpc>
              <a:buNone/>
              <a:def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650" b="0" lang="ar-SA" altLang="ar-SA" rtl="1">
                <a:solidFill>
                  <a:srgbClr val="374151"/>
                </a:solidFill>
                <a:latin typeface="Arial"/>
                <a:ea typeface="Arial"/>
                <a:cs typeface="Arial"/>
              </a:rPr>
              <a:t>في السعودية، يجب الانتباه لسياسة الخصوصية وحماية البيانات الشخصية عند تخزين محادثات العملاء.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AEBE0-0126-42A0-A8FB-1755612A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05300"/>
            <a:ext cx="228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lnSpc>
                <a:spcPct val="115000"/>
              </a:lnSpc>
              <a:buNone/>
              <a:def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650" b="1" lang="ar-SA" altLang="ar-SA" rtl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E5A66-DB92-4FD6-998A-54EB3D98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E91F1-A875-4A63-AEE1-05E80B5F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62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lnSpc>
                <a:spcPct val="115000"/>
              </a:lnSpc>
              <a:buNone/>
              <a:def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1125" b="0" lang="ar-SA" altLang="ar-SA" rtl="1">
                <a:solidFill>
                  <a:srgbClr val="6B7280"/>
                </a:solidFill>
                <a:latin typeface="Arial"/>
                <a:ea typeface="Arial"/>
                <a:cs typeface="Arial"/>
              </a:rPr>
              <a:t>مندوب واتساب الذكي</a:t>
            </a:r>
          </a:p>
        </p:txBody>
      </p:sp>
    </p:spTree>
    <p:extLst>
      <p:ext uri="{BB962C8B-B14F-4D97-AF65-F5344CB8AC3E}">
        <p14:creationId xmlns:p14="http://schemas.microsoft.com/office/powerpoint/2010/main" val="173736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2026-06-30T20:26:58.1990000Z</dcterms:created>
  <dcterms:modified xsi:type="dcterms:W3CDTF">2026-06-30T20:26:58.2000000Z</dcterms:modified>
</coreProperties>
</file>